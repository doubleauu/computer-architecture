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0bc9a993784042" /><Relationship Type="http://schemas.openxmlformats.org/officeDocument/2006/relationships/extended-properties" Target="/docProps/app.xml" Id="R5fe7251b295b4379" /><Relationship Type="http://schemas.openxmlformats.org/officeDocument/2006/relationships/officeDocument" Target="/ppt/presentation.xml" Id="Rb3002c07b78047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2d3ca8a2454627"/>
  </p:sldMasterIdLst>
  <p:notesMasterIdLst>
    <p:notesMasterId xmlns:r="http://schemas.openxmlformats.org/officeDocument/2006/relationships" r:id="Re3887d115fd0410d"/>
  </p:notesMasterIdLst>
  <p:sldIdLst>
    <p:sldId xmlns:r="http://schemas.openxmlformats.org/officeDocument/2006/relationships" id="256" r:id="R10e48cca1e3e433a"/>
    <p:sldId xmlns:r="http://schemas.openxmlformats.org/officeDocument/2006/relationships" id="257" r:id="Rfa8f06314f214149"/>
    <p:sldId xmlns:r="http://schemas.openxmlformats.org/officeDocument/2006/relationships" id="258" r:id="Rba884160420743d4"/>
    <p:sldId xmlns:r="http://schemas.openxmlformats.org/officeDocument/2006/relationships" id="259" r:id="Re177ef393f264bee"/>
    <p:sldId xmlns:r="http://schemas.openxmlformats.org/officeDocument/2006/relationships" id="260" r:id="R7fa13b4c232f4e7d"/>
    <p:sldId xmlns:r="http://schemas.openxmlformats.org/officeDocument/2006/relationships" id="261" r:id="R05e68964062247bd"/>
    <p:sldId xmlns:r="http://schemas.openxmlformats.org/officeDocument/2006/relationships" id="262" r:id="Rbb8ea8b1201849e8"/>
    <p:sldId xmlns:r="http://schemas.openxmlformats.org/officeDocument/2006/relationships" id="263" r:id="Rac4d3e3897f2462e"/>
    <p:sldId xmlns:r="http://schemas.openxmlformats.org/officeDocument/2006/relationships" id="264" r:id="Rf8fa685b43804cfe"/>
    <p:sldId xmlns:r="http://schemas.openxmlformats.org/officeDocument/2006/relationships" id="265" r:id="Rbf98424b105841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ead07bdd214163" /><Relationship Type="http://schemas.openxmlformats.org/officeDocument/2006/relationships/slideMaster" Target="/ppt/slideMasters/slideMaster1.xml" Id="Ra12d3ca8a2454627" /><Relationship Type="http://schemas.openxmlformats.org/officeDocument/2006/relationships/notesMaster" Target="/ppt/notesMasters/notesMaster1.xml" Id="Re3887d115fd0410d" /><Relationship Type="http://schemas.openxmlformats.org/officeDocument/2006/relationships/presProps" Target="/ppt/presProps.xml" Id="R345bc310218241f5" /><Relationship Type="http://schemas.openxmlformats.org/officeDocument/2006/relationships/tableStyles" Target="/ppt/tableStyles.xml" Id="R45ba8507a7f44d36" /><Relationship Type="http://schemas.openxmlformats.org/officeDocument/2006/relationships/slide" Target="/ppt/slides/slide1.xml" Id="R10e48cca1e3e433a" /><Relationship Type="http://schemas.openxmlformats.org/officeDocument/2006/relationships/slide" Target="/ppt/slides/slide2.xml" Id="Rfa8f06314f214149" /><Relationship Type="http://schemas.openxmlformats.org/officeDocument/2006/relationships/slide" Target="/ppt/slides/slide3.xml" Id="Rba884160420743d4" /><Relationship Type="http://schemas.openxmlformats.org/officeDocument/2006/relationships/slide" Target="/ppt/slides/slide4.xml" Id="Re177ef393f264bee" /><Relationship Type="http://schemas.openxmlformats.org/officeDocument/2006/relationships/slide" Target="/ppt/slides/slide5.xml" Id="R7fa13b4c232f4e7d" /><Relationship Type="http://schemas.openxmlformats.org/officeDocument/2006/relationships/slide" Target="/ppt/slides/slide6.xml" Id="R05e68964062247bd" /><Relationship Type="http://schemas.openxmlformats.org/officeDocument/2006/relationships/slide" Target="/ppt/slides/slide7.xml" Id="Rbb8ea8b1201849e8" /><Relationship Type="http://schemas.openxmlformats.org/officeDocument/2006/relationships/slide" Target="/ppt/slides/slide8.xml" Id="Rac4d3e3897f2462e" /><Relationship Type="http://schemas.openxmlformats.org/officeDocument/2006/relationships/slide" Target="/ppt/slides/slide9.xml" Id="Rf8fa685b43804cfe" /><Relationship Type="http://schemas.openxmlformats.org/officeDocument/2006/relationships/slide" Target="/ppt/slides/slide10.xml" Id="Rbf98424b105841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24fc45f9e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122ded8d5d4a55" /><Relationship Type="http://schemas.openxmlformats.org/officeDocument/2006/relationships/notesMaster" Target="/ppt/notesMasters/notesMaster1.xml" Id="R77fb93419f844d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565a239104c76" /><Relationship Type="http://schemas.openxmlformats.org/officeDocument/2006/relationships/notesMaster" Target="/ppt/notesMasters/notesMaster1.xml" Id="R007749349146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a161bf16f749fc" /><Relationship Type="http://schemas.openxmlformats.org/officeDocument/2006/relationships/notesMaster" Target="/ppt/notesMasters/notesMaster1.xml" Id="R86776a5504184c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8c96ce3ddf4c9d" /><Relationship Type="http://schemas.openxmlformats.org/officeDocument/2006/relationships/notesMaster" Target="/ppt/notesMasters/notesMaster1.xml" Id="R2dacace8dedb41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f590f78de64699" /><Relationship Type="http://schemas.openxmlformats.org/officeDocument/2006/relationships/notesMaster" Target="/ppt/notesMasters/notesMaster1.xml" Id="R9262a7d15f714d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e3deae2e2e4993" /><Relationship Type="http://schemas.openxmlformats.org/officeDocument/2006/relationships/notesMaster" Target="/ppt/notesMasters/notesMaster1.xml" Id="R38ff285b27a444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4429b895754b81" /><Relationship Type="http://schemas.openxmlformats.org/officeDocument/2006/relationships/notesMaster" Target="/ppt/notesMasters/notesMaster1.xml" Id="R3ebc86b9505e44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1db683cee14b87" /><Relationship Type="http://schemas.openxmlformats.org/officeDocument/2006/relationships/notesMaster" Target="/ppt/notesMasters/notesMaster1.xml" Id="R3516df2d75d64f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be67bde3264d23" /><Relationship Type="http://schemas.openxmlformats.org/officeDocument/2006/relationships/notesMaster" Target="/ppt/notesMasters/notesMaster1.xml" Id="Ra0a77bc5e68d46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a5fbc9bd364ecc" /><Relationship Type="http://schemas.openxmlformats.org/officeDocument/2006/relationships/notesMaster" Target="/ppt/notesMasters/notesMaster1.xml" Id="Red87e739ab9b45a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30秒。大家好，本次汇报是MIPS指令系统和MIPS体系结构实验。我们使用alltest.s观察CPU执行指令后寄存器、内存和PC的变化。第一章把指令集看作软硬件接口，本实验就是把这些规则落实成可观察的状态。展示共十页，适合10至15分钟。这里的数值来自教材规定初值下的理论推导，还没有作为本次实测记录。后面会明确指出ANDI和链接地址的实现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第1章 计算机系结构基础知识-20260903.pdf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第一章的ISA规定机器有哪些指令、寄存器以及执行规则。寄存器是CPU内部的小容量快速存储位置，内存保存程序和数据。地址与内容要分开理解，就像门牌号与房间内物品。通用寄存器是64位，R0固定为0。PC在非流水单步结束后指出下一条指令的位置。LW先读取R8作为基地址，加上偏移0，再从该内存地址取四字节、符号扩展并写到R1。实际内部还包括取指与译码等微操作，不能把这些功能阶段直接当成某套微指令编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第1章 计算机系结构基础知识-20260903.pdf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打开项目中的MIPSsim.exe，先取消流水方式，关闭延迟槽，设置载入起始地址0，然后载入样例程序alltest.s。配置改变可能复位，所以先配置再记录。F7在非流水方式下执行一条指令，F8撤销上一条。本表假设寄存器、HI和LO初始为0，小端存储，每条源码指令对应一条4字节机器指令且不展开。31条静态指令共124字节，得到DATA地址0x7C、BUFFER地址0x80。实际必须通过符号表核对地址。程序按四组测试，进入后三组前需要手动改变输入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建议用时2分钟，这是核心页面。先执行ADDIU R8,R0,DATA，把DATA地址0x7C写入R8，里面不是128。DATA的.word128是32位0x00000080，在小端内存中从低到高是80 00 00 00。LB只读首字节80，二进制10000000按8位有符号补码解释为负128，符号扩展在高56位补1，得到FFFFFFFFFFFFFF80。LW读取完整32位00000080，符号位为0，扩展结果128。LBU只读80但高位补0，结果也是128。LW和LBU结果相同但规则不同。LBU执行前后R1同为128，不能据此判断它未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MIPS指令格式理解.docx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建议用时1分30秒。这张表展示前六条指令执行后的状态，数据列为十进制，地址使用十六进制。PC每次增加4。第五条ADDIU把R8改成BUFFER地址0x80。第六条SW把R1低32位写入这个地址，BUFFER从300变成128，内存字节从2C 01 00 00变为80 00 00 00。R1仍保持128，DATA也没有改变。特别注意R8里的地址0x80和数据128恰巧数值相等，作用却不同。其余未列出的寄存器、HI、LO此时均为0。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按教材在PC等于0x18的BEQ执行前，手动把R1设为2、R2设为3。该BEQ比较R0和R0恒成立，跳至PROG2的0x20。DADD做64位加法，把2加3的结果5写到R3，执行后PC为0x24。DMULT做64位有符号乘法，形成128位乘积6，高64位写HI，低64位写LO，因此HI=0、LO=6，执行后PC为0x28。DMULT不写R3，R3仍为5。如果没有人工改寄存器，就不是教材的这一组实验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30秒。进入逻辑段之前，在PC等于0x28的BEQ前手动将R1设为FFFF0000、R2设为FF00FF00，两者在64位寄存器的高32位取0。逐位与只有1与1得到1，结果FF000000写入R3。下一条ANDI用立即数作为一个操作数。但源文件写FFFF0000，超出标准ANDI的16位字段。本Excel仅按汇编器截取低16位的假设得到R3=0。实际可能拒绝汇编，也可能扩展常数运算得到FFFF0000。若展开为多条机器指令，后续地址必须重新核对。课堂上应称之为条件预期，不称为实测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2分钟。进入控制段前，在PC为0x38的BEQ之前手动设置R1=R2=2。0x40处BEQ条件成立，跳到LABEL1的0x4C。BGEZ判断2大于等于0，跳到LABEL2的0x58。BGEZAL继续成立，跳到LABEL3的0x64，并按本表无延迟槽教学约定将本条地址加4，即0x5C写入R31。随后0x64处ADDIU将R1改为LABEL4的0x74，0x68处JALR跳到R1指定地址，同时把返回地址0x6C写入显式目的寄存器R3，R31不变。链接地址需要对照模拟器，不能直接套用带延迟槽的PC加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演示采用先预测、再F7、再解释差异的顺序，优先展示LB/LBU、SW、DMULT和JALR。表格PC列记录执行完成后的下一位置，寄存器没有变化就沿用原值。被跳过的NOP要写未执行，标签、.text、.data、.word等不对应一条动态执行指令。TEQ R0,R0恒成立触发陷阱，本样例按教学约定结束，0x78只是顺序后继地址，实际停机PC或异常入口必须观察。表内80H等于0x80，黄色标出了手动修改和待核对假设。三次人工设置要如实注明。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1分钟。实验核心是把每条指令的操作语义对应到状态变化。访存指令让数据在寄存器和内存间传递，算术及逻辑指令计算新数值，控制转移决定下一条指令地址。LB和LBU结果不同来自有符号与零扩展的差异。乘法结果在HI和LO，跳转时目标与返回地址保存在不同位置。最后提问：R1执行LBU前后都是128，能否说没有执行？答案不能，因为重新读取的数据恰好等于原值。资料依据为第一章课件、实践教程、alltest.s以及理论Excel。结果适用条件和需要实测核对的项目已在相关页注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</a:t>
            </a:r>
          </a:p>
          <a:p xmlns:a="http://schemas.openxmlformats.org/drawingml/2006/main">
            <a:r>
              <a:t>第1章 计算机系结构基础知识-20260903.pdf</a:t>
            </a:r>
          </a:p>
          <a:p xmlns:a="http://schemas.openxmlformats.org/drawingml/2006/main">
            <a:r>
              <a:t>计算机系统结构实践教程最新版扫描--20260903.pdf，正文第1～3页（PDF第4～6页）及MIPSsim使用手册</a:t>
            </a:r>
          </a:p>
          <a:p xmlns:a="http://schemas.openxmlformats.org/drawingml/2006/main">
            <a:r>
              <a:t>系统结构实验模拟器 - 配第3版实验教材/MIPS模拟器/样例程序/alltest.s</a:t>
            </a:r>
          </a:p>
          <a:p xmlns:a="http://schemas.openxmlformats.org/drawingml/2006/main">
            <a:r>
              <a:t>outputs/01a0c845-4b86-7061-9746-1ecbbdd54ee3/实验一 alltest.s 内容分析（理论预期已填写）.xlsx</a:t>
            </a:r>
          </a:p>
          <a:p xmlns:a="http://schemas.openxmlformats.org/drawingml/2006/main">
            <a:r>
              <a:t>说明：所有数值均为理论推导，非本次模拟器实测。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97564342047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696564468d4728" /><Relationship Type="http://schemas.openxmlformats.org/officeDocument/2006/relationships/slideLayout" Target="/ppt/slideLayouts/slideLayout1.xml" Id="R50726745ea92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726745ea92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ad410e5c747dd" /><Relationship Type="http://schemas.openxmlformats.org/officeDocument/2006/relationships/notesSlide" Target="/ppt/notesSlides/notesSlide1.xml" Id="R7bb595b8cdc043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40f1c8174fb6" /><Relationship Type="http://schemas.openxmlformats.org/officeDocument/2006/relationships/notesSlide" Target="/ppt/notesSlides/notesSlide2.xml" Id="R528ea32f3cb341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5538d0ad54921" /><Relationship Type="http://schemas.openxmlformats.org/officeDocument/2006/relationships/notesSlide" Target="/ppt/notesSlides/notesSlide3.xml" Id="R084ff081d2d64a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707ffccf246f6" /><Relationship Type="http://schemas.openxmlformats.org/officeDocument/2006/relationships/notesSlide" Target="/ppt/notesSlides/notesSlide4.xml" Id="R23652b5fee7548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e6b3981364290" /><Relationship Type="http://schemas.openxmlformats.org/officeDocument/2006/relationships/notesSlide" Target="/ppt/notesSlides/notesSlide5.xml" Id="R88272a7a0c8645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c1f0b3bb4006" /><Relationship Type="http://schemas.openxmlformats.org/officeDocument/2006/relationships/notesSlide" Target="/ppt/notesSlides/notesSlide6.xml" Id="R5f5f096e1d8046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a5b6e741a43f0" /><Relationship Type="http://schemas.openxmlformats.org/officeDocument/2006/relationships/notesSlide" Target="/ppt/notesSlides/notesSlide7.xml" Id="R9149233c5a4347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8bc743beb24244" /><Relationship Type="http://schemas.openxmlformats.org/officeDocument/2006/relationships/notesSlide" Target="/ppt/notesSlides/notesSlide8.xml" Id="R96367d69b17441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34b2a414c4b5d" /><Relationship Type="http://schemas.openxmlformats.org/officeDocument/2006/relationships/notesSlide" Target="/ppt/notesSlides/notesSlide9.xml" Id="R7c2277beb06547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0f2a9817f4eed" /><Relationship Type="http://schemas.openxmlformats.org/officeDocument/2006/relationships/notesSlide" Target="/ppt/notesSlides/notesSlide10.xml" Id="Rffc85ef3c1ae413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B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33A35ED-D97C-4D6B-BC65-AD584E04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计算机体系结构实验一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6980A74-3321-4B55-90A7-E37FE60F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AC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C7D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16852BD-FE29-4BD7-997B-570A4B33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MIPS 指令与执行过程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D8090A-8379-4EF8-9300-5C192E60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B9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B9D9E7"/>
                </a:solidFill>
                <a:latin typeface="Microsoft YaHei"/>
                <a:ea typeface="Microsoft YaHei"/>
                <a:cs typeface="Microsoft YaHei"/>
              </a:rPr>
              <a:t>alltest.s 程序分析与结果解释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75D5FAD-8D6F-45DC-9AD6-0DFAE4FE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访存指令　算术运算　逻辑运算　控制转移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EED00F1-ED5A-4891-BB8F-6B1A24B4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054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9D9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9D9E7"/>
                </a:solidFill>
                <a:latin typeface="Microsoft YaHei"/>
                <a:ea typeface="Microsoft YaHei"/>
                <a:cs typeface="Microsoft YaHei"/>
              </a:rPr>
              <a:t>非流水模式下的理论预期</a:t>
            </a:r>
          </a:p>
        </p:txBody>
      </p:sp>
    </p:spTree>
    <p:extLst>
      <p:ext uri="{BB962C8B-B14F-4D97-AF65-F5344CB8AC3E}">
        <p14:creationId xmlns:p14="http://schemas.microsoft.com/office/powerpoint/2010/main" val="534985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4FA7515-6957-4A44-B66B-1E8B29D7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指令如何改变机器状态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6BB1C76-A033-4CE8-875F-84729683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457325"/>
          <a:ext xmlns:a="http://schemas.openxmlformats.org/drawingml/2006/main" cx="10820400" cy="3524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810000"/>
                <a:gridCol w="501015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作用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本实验观察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保存操作数或地址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R0恒为0，关注R1/R2/R3/R8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存放程序和数据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DATA初值128，BUFFER初值300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确定接下来执行的位置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顺序前进或跳到标签地址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HI、LO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保存乘法结果的高、低部分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DMULT之后查看HI和LO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C37EB82-3EDA-4505-9664-99C71C9A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250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LW $r1, 0($r8)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FE1D816-E280-453B-910A-DE433CC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有效地址 = R8 + 0，读取4字节并写入R1</a:t>
            </a:r>
          </a:p>
        </p:txBody>
      </p:sp>
    </p:spTree>
    <p:extLst>
      <p:ext uri="{BB962C8B-B14F-4D97-AF65-F5344CB8AC3E}">
        <p14:creationId xmlns:p14="http://schemas.microsoft.com/office/powerpoint/2010/main" val="240987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0C596C2-ECD9-4274-8E04-C066875D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实验设置与程序结构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65F49D-7E88-451B-9E34-C9747D2E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801CCB0-70D0-4C94-861A-274B177A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非流水　关闭延迟槽　小端存储　载入起始地址0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257425"/>
          <a:ext xmlns:a="http://schemas.openxmlformats.org/drawingml/2006/main" cx="10820400" cy="3095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2095500"/>
                <a:gridCol w="64389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测试阶段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入口地址*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主要指令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 / LW / LBU / SW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算术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0x20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DADD / DMULT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逻辑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0x30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AND / ANDI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控制转移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0x40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BEQ / BGEZ / BGEZAL / JALR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D0A2FDF-A033-499D-B26E-208019A6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29275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F7单步执行，F8撤销。每次记录执行后的状态。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9AD70DA-B1C2-42DE-BF3A-ADAD52F7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* 地址按每条源码指令占4字节且不展开推算</a:t>
            </a:r>
          </a:p>
        </p:txBody>
      </p:sp>
    </p:spTree>
    <p:extLst>
      <p:ext uri="{BB962C8B-B14F-4D97-AF65-F5344CB8AC3E}">
        <p14:creationId xmlns:p14="http://schemas.microsoft.com/office/powerpoint/2010/main" val="16547322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DA7DBF6-BF1E-403D-87DD-8069F2FF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LB、LW、LBU 的读取差异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AB6652-B790-4625-BA93-713B1DFA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436856A-D055-4508-9B2C-6A850D2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DATA = 128 = 0x00000080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8815794-A2EB-4DFF-8CD3-16EB1DD7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小端内存的四个字节：80  00  00  00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313372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428875"/>
                <a:gridCol w="2857500"/>
                <a:gridCol w="3533775"/>
              </a:tblGrid>
              <a:tr h="66675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读取宽度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扩展方式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R1结果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1字节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符号扩展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−128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LW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4字节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符号扩展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LBU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1字节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零扩展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05F471E-4BD0-47B7-944A-7830A453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LB的64位结果：0xFFFFFFFFFFFFFF80</a:t>
            </a:r>
          </a:p>
        </p:txBody>
      </p:sp>
    </p:spTree>
    <p:extLst>
      <p:ext uri="{BB962C8B-B14F-4D97-AF65-F5344CB8AC3E}">
        <p14:creationId xmlns:p14="http://schemas.microsoft.com/office/powerpoint/2010/main" val="1610444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C3E3E26-D1A7-411E-B106-F98697293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访存指令的状态变化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4E1728E-6F8B-46B1-A608-2FD13F41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85800" y="1438275"/>
          <a:ext xmlns:a="http://schemas.openxmlformats.org/drawingml/2006/main" cx="10820400" cy="4333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14750"/>
                <a:gridCol w="1714500"/>
                <a:gridCol w="1428750"/>
                <a:gridCol w="1619250"/>
                <a:gridCol w="234315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刚执行的指令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执行后PC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R8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BUFFER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ADDIU R8, … DATA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0x04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0x7C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 R1, 0(R8)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−128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0x7C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LW R1, 0(R8)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0x0C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0x7C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LBU R1, 0(R8)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0x7C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ADDIU R8, … BUFFER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0x14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0x80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300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 R1, 0(R8)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0x18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0x80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D9AF4EB7-B313-46AE-AC01-82B7F45F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SW将R1低32位写入内存，R1本身不变</a:t>
            </a:r>
          </a:p>
        </p:txBody>
      </p:sp>
    </p:spTree>
    <p:extLst>
      <p:ext uri="{BB962C8B-B14F-4D97-AF65-F5344CB8AC3E}">
        <p14:creationId xmlns:p14="http://schemas.microsoft.com/office/powerpoint/2010/main" val="17800818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BE5E07C-5DE0-4F31-8726-3A81342E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算术运算与结果寄存器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76D91C1-B8CE-4E16-B42C-20E9B652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C6C9C5C-1537-47B4-9AE3-F3908E0A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0175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进入算术段前，手动设置 R1 = 2、R2 = 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07FDF39-A14D-4EF4-8001-51DFA6E8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DADD  $r3, $r1, $r2</a:t>
            </a:r>
          </a:p>
          <a:p xmlns:a="http://schemas.openxmlformats.org/drawingml/2006/main">
            <a:pPr>
              <a:defRPr sz="2475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475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DMULT $r1, $r2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3838575"/>
          <a:ext xmlns:a="http://schemas.openxmlformats.org/drawingml/2006/main" cx="10820400" cy="1971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3238500"/>
                <a:gridCol w="5105400"/>
              </a:tblGrid>
              <a:tr h="6572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运算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结果保存位置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DADD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+ 3 = 5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 = 5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DMULT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3 = 6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HI = 0，LO = 6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5CCD892-089A-49C4-AC33-A289396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055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人工设置改变输入，DMULT不改变R3</a:t>
            </a:r>
          </a:p>
        </p:txBody>
      </p:sp>
    </p:spTree>
    <p:extLst>
      <p:ext uri="{BB962C8B-B14F-4D97-AF65-F5344CB8AC3E}">
        <p14:creationId xmlns:p14="http://schemas.microsoft.com/office/powerpoint/2010/main" val="5686067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B4F55E11-A544-4517-8B64-76195A13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按位与及 ANDI 的特殊情况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3AADE5-0B1A-457E-9AD2-83643C59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6BFFBB4-F2F3-4425-8E83-22894FD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手动输入：R1 = 0xFFFF0000，R2 = 0xFF00FF00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93EB21-394A-4F02-9C56-3D53F194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850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  FFFF0000</a:t>
            </a:r>
          </a:p>
          <a:p xmlns:a="http://schemas.openxmlformats.org/drawingml/2006/main">
            <a:pPr>
              <a:defRPr sz="2850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850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&amp; FF00FF00</a:t>
            </a:r>
          </a:p>
          <a:p xmlns:a="http://schemas.openxmlformats.org/drawingml/2006/main">
            <a:pPr>
              <a:defRPr sz="2850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850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= FF000000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C5553C-987B-4712-8C28-26653E41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09850"/>
            <a:ext cx="5314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AND结果：R3 = 0xFF000000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BA90923-29B7-45CD-A0B5-FD6D68C0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36F8A"/>
                </a:solidFill>
                <a:latin typeface="Consolas"/>
                <a:ea typeface="Consolas"/>
                <a:cs typeface="Consolas"/>
              </a:defRPr>
            </a:pPr>
            <a:r>
              <a:rPr sz="2325" b="0">
                <a:solidFill>
                  <a:srgbClr val="136F8A"/>
                </a:solidFill>
                <a:latin typeface="Consolas"/>
                <a:ea typeface="Consolas"/>
                <a:cs typeface="Consolas"/>
              </a:rPr>
              <a:t>ANDI $r3, $r1, 0xFFFF0000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57F485B-A9B8-40C7-855E-FC1D822E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10820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rPr>
              <a:t>立即数超出16位。表格假设截取低16位为0，因此R3 = 0。</a:t>
            </a:r>
          </a:p>
          <a:p xmlns:a="http://schemas.openxmlformats.org/drawingml/2006/main">
            <a:pPr>
              <a:defRPr sz="20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rPr>
              <a:t>若汇编器拒绝或扩展处理，结果与后续地址需重新核对。</a:t>
            </a:r>
          </a:p>
        </p:txBody>
      </p:sp>
    </p:spTree>
    <p:extLst>
      <p:ext uri="{BB962C8B-B14F-4D97-AF65-F5344CB8AC3E}">
        <p14:creationId xmlns:p14="http://schemas.microsoft.com/office/powerpoint/2010/main" val="6086996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508E49D-5F7A-4D31-9BFF-DC5FD584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分支跳转与返回地址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01B526-8852-4292-9AE2-884FB84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9B26C0-2E10-4D73-8E11-FB1D1643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进入控制段前：手动设置 R1 = 2、R2 = 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2669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67000"/>
                <a:gridCol w="3143250"/>
                <a:gridCol w="2095500"/>
                <a:gridCol w="29146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条件或动作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执行后PC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额外写入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BEQ（0x40）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 = R2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0x4C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BGEZ（0x4C）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 ≥ 0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0x58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BGEZAL（0x58）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R1 ≥ 0，并链接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0x64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R31 = 0x5C*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JALR（0x68）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跳到R1的地址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0x74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R3 = 0x6C*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5E50346-6502-4846-96AF-D46E1D88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JALR前的ADDIU先将R1设为LABEL4地址0x74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65F571D-FA41-4E5B-B0AF-95088AEB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B4F12"/>
                </a:solidFill>
                <a:latin typeface="Microsoft YaHei"/>
                <a:ea typeface="Microsoft YaHei"/>
                <a:cs typeface="Microsoft YaHei"/>
              </a:rPr>
              <a:t>* 采用无延迟槽的“本条地址+4”约定，链接值需实测核对</a:t>
            </a:r>
          </a:p>
        </p:txBody>
      </p:sp>
    </p:spTree>
    <p:extLst>
      <p:ext uri="{BB962C8B-B14F-4D97-AF65-F5344CB8AC3E}">
        <p14:creationId xmlns:p14="http://schemas.microsoft.com/office/powerpoint/2010/main" val="765363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6A9BEB55-217D-431D-A82C-362E3EFF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Excel 记录与课堂演示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029264A-5F88-49CD-99E6-417EA24E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6216B61-DA2D-45B7-89CB-EE26C1B9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6D826C-D3D3-456F-914C-A000DB07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47637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每次F7后记录PC、寄存器与内存，沿用未变的值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FC44118-7211-4051-A3FC-E854A18E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2C52A6E-6A90-4305-B16E-7CB6BA3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765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手动修改注明来源，跳过的NOP填写“未执行”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22CA1FD-6AC3-445C-9EB5-2CF6199F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5847641-17DB-48A6-A50F-A0A6B6B0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标签与数据声明不产生独立的执行后状态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6916C83-CA16-477A-A7B3-831F1A46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B43B4ED-BF10-4484-88A8-F5BCCF38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TEQ触发陷阱，样例结束，停机PC需要实测核对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A3273127-CEC4-431E-9C41-5E787602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演示顺序：先预测，再单步执行，最后解释差异</a:t>
            </a:r>
          </a:p>
        </p:txBody>
      </p:sp>
    </p:spTree>
    <p:extLst>
      <p:ext uri="{BB962C8B-B14F-4D97-AF65-F5344CB8AC3E}">
        <p14:creationId xmlns:p14="http://schemas.microsoft.com/office/powerpoint/2010/main" val="16215417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7670BE3-C66C-4174-8B5F-B0684BFD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2B45"/>
                </a:solidFill>
                <a:latin typeface="Microsoft YaHei"/>
                <a:ea typeface="Microsoft YaHei"/>
                <a:cs typeface="Microsoft YaHei"/>
              </a:rPr>
              <a:t>实验结论与讨论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C6126-FDC6-4F65-B728-757D9AF8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5811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05125"/>
                <a:gridCol w="7915275"/>
              </a:tblGrid>
              <a:tr h="8096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指令类型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本实验掌握的内容</a:t>
                      </a:r>
                    </a:p>
                  </a:txBody>
                  <a:tcPr marL="133350" marR="114300" marT="95250" marB="95250">
                    <a:solidFill>
                      <a:srgbClr val="172B45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访存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地址与内容、符号扩展、内存写入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算术与逻辑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操作数来源、按位运算、结果位置</a:t>
                      </a:r>
                    </a:p>
                  </a:txBody>
                  <a:tcPr marL="133350" marR="114300" marT="95250" marB="95250">
                    <a:solidFill>
                      <a:srgbClr val="F4F7F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控制转移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B4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条件判断、PC跳转、返回地址</a:t>
                      </a:r>
                    </a:p>
                  </a:txBody>
                  <a:tcPr marL="133350" marR="114300" marT="95250" marB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CBC842C9-025B-4C6E-84A3-90CFE04F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36F8A"/>
                </a:solidFill>
                <a:latin typeface="Microsoft YaHei"/>
                <a:ea typeface="Microsoft YaHei"/>
                <a:cs typeface="Microsoft YaHei"/>
              </a:rPr>
              <a:t>讨论：R1执行前后都是128，能否说明指令没有执行？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C850B33-CEBA-4C5E-8DA8-8735CF8D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484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26173"/>
                </a:solidFill>
                <a:latin typeface="Microsoft YaHei"/>
                <a:ea typeface="Microsoft YaHei"/>
                <a:cs typeface="Microsoft YaHei"/>
              </a:rPr>
              <a:t>依据课程课件、实践教程与alltest.s，数值为条件下的理论预期</a:t>
            </a:r>
          </a:p>
        </p:txBody>
      </p:sp>
    </p:spTree>
    <p:extLst>
      <p:ext uri="{BB962C8B-B14F-4D97-AF65-F5344CB8AC3E}">
        <p14:creationId xmlns:p14="http://schemas.microsoft.com/office/powerpoint/2010/main" val="1451753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2026-09-23T09:02:03.5700000Z</dcterms:created>
  <dcterms:modified xsi:type="dcterms:W3CDTF">2026-09-23T09:02:03.5700000Z</dcterms:modified>
</coreProperties>
</file>